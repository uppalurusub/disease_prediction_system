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182880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141732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228600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324612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379476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38160" y="429768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94776" y="1499616"/>
            <a:ext cx="1280160" cy="411479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74936" y="1499616"/>
            <a:ext cx="1097280" cy="868680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94776" y="1911095"/>
            <a:ext cx="731520" cy="1417321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26296" y="3328416"/>
            <a:ext cx="1371600" cy="548640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20456" y="3877056"/>
            <a:ext cx="2377440" cy="502920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226296" y="2368296"/>
            <a:ext cx="1645920" cy="960120"/>
          </a:xfrm>
          <a:prstGeom prst="line">
            <a:avLst/>
          </a:prstGeom>
          <a:ln w="1905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1298448"/>
            <a:ext cx="685800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600" b="1" i="0">
                <a:solidFill>
                  <a:srgbClr val="F7FAFC"/>
                </a:solidFill>
                <a:latin typeface="Aptos"/>
              </a:rPr>
              <a:t>Disease Prediction
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65836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67D5E8"/>
                </a:solidFill>
                <a:latin typeface="Aptos"/>
              </a:rPr>
              <a:t>From patient signals to responsible, evidence-led decision support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977639"/>
            <a:ext cx="4206240" cy="0"/>
          </a:xfrm>
          <a:prstGeom prst="line">
            <a:avLst/>
          </a:prstGeom>
          <a:ln w="381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251960"/>
            <a:ext cx="6492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>
                <a:solidFill>
                  <a:srgbClr val="A9B8C9"/>
                </a:solidFill>
                <a:latin typeface="Aptos"/>
              </a:rPr>
              <a:t>A full-stack ML proof of concept — and a roadmap for making healthcare AI trustworthy.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The opportunity is not just prediction — it is trustworthy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64008" cy="157276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1363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9696"/>
            <a:ext cx="3136392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Healthcare signals are fragmented across measurements, symptoms and narrative notes. Turning them into consistent, reviewable insights is difficult.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72768"/>
            <a:ext cx="64008" cy="1572768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1363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9696"/>
            <a:ext cx="3136392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 Python ML pipeline combines structured patient measurements and text, exposes predictions through FastAPI, and supports React and Streamlit interfaces.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72768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572768"/>
            <a:ext cx="64008" cy="1572768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737360"/>
            <a:ext cx="31363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THE THINKER'S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139696"/>
            <a:ext cx="3136392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 prediction is only useful when its data, uncertainty, failure modes, workflow fit and intended use are understood.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47548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96512"/>
            <a:ext cx="5577840" cy="1508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End-to-end ML engineering: data → features → ensemble → API → UI</a:t>
            </a:r>
          </a:p>
          <a:p>
            <a:pPr>
              <a:spcAft>
                <a:spcPts val="10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Cross-functional thinking across product, clinical context, engineering and governance</a:t>
            </a:r>
          </a:p>
          <a:p>
            <a:pPr>
              <a:spcAft>
                <a:spcPts val="10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A disciplined next step: validate evidence before claiming clinical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703320"/>
            <a:ext cx="4572000" cy="1554480"/>
          </a:xfrm>
          <a:prstGeom prst="roundRect">
            <a:avLst>
              <a:gd name="adj" fmla="val 12000"/>
            </a:avLst>
          </a:prstGeom>
          <a:solidFill>
            <a:srgbClr val="1B394B"/>
          </a:solidFill>
          <a:ln>
            <a:solidFill>
              <a:srgbClr val="1B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395020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CORE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15968"/>
            <a:ext cx="39319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 i="0">
                <a:solidFill>
                  <a:srgbClr val="F7FAFC"/>
                </a:solidFill>
                <a:latin typeface="Aptos"/>
              </a:rPr>
              <a:t>Build for clinical usefulness.
Prove it with evidence.
Scale with safeguards.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Start with the problem, not with the algorithm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023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6C2B2"/>
                </a:solidFill>
                <a:latin typeface="Aptos"/>
              </a:rPr>
              <a:t>Working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459028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How might we combine structured measurements and patient-reported information into a consistent, reviewable signal that supports — but never replaces — clinical judgment?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554480"/>
            <a:ext cx="43891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6C2B2"/>
                </a:solidFill>
                <a:latin typeface="Aptos"/>
              </a:rPr>
              <a:t>What needs to be understood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38528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938528"/>
            <a:ext cx="64008" cy="114300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2103120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USER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505456"/>
            <a:ext cx="203911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 usable summary and clear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9952" y="1938528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59952" y="1938528"/>
            <a:ext cx="64008" cy="114300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WORKFLOW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05456"/>
            <a:ext cx="203911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Where does the output enter care?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27355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3273552"/>
            <a:ext cx="64008" cy="1143000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3438144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840480"/>
            <a:ext cx="203911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Are labels and inputs trustworthy?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59952" y="327355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59952" y="3273552"/>
            <a:ext cx="64008" cy="114300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0" y="3438144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840480"/>
            <a:ext cx="203911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What happens when the model is wrong?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83480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 dirty="0">
                <a:solidFill>
                  <a:srgbClr val="A9B8C9"/>
                </a:solidFill>
                <a:latin typeface="Aptos"/>
              </a:rPr>
              <a:t>Thinking principle: distinguish the visible symptom (manual interpretation) from the underlying causes (data fragmentation, inconsistent documentation, workflow friction, or decision uncertainty). These are hypotheses to test — not assumed 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03 / SOLUTION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A multimodal-in-spirit, tabular-plus-text prediction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423160" cy="201168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6C2B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41448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0360"/>
            <a:ext cx="2057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A9B8C9"/>
                </a:solidFill>
                <a:latin typeface="Aptos"/>
              </a:rPr>
              <a:t>Measurements
Symptoms
Doctor notes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834640"/>
            <a:ext cx="338327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38728" y="1874519"/>
            <a:ext cx="2423160" cy="201168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057400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67D5E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41448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880360"/>
            <a:ext cx="2057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A9B8C9"/>
                </a:solidFill>
                <a:latin typeface="Aptos"/>
              </a:rPr>
              <a:t>Validate fields
Combine text
Transform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834640"/>
            <a:ext cx="338328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19088" y="1874519"/>
            <a:ext cx="2423160" cy="201168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057400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4BE5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41448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880360"/>
            <a:ext cx="2057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A9B8C9"/>
                </a:solidFill>
                <a:latin typeface="Aptos"/>
              </a:rPr>
              <a:t>Voting ensemble
Six target labels
Class probabilities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834640"/>
            <a:ext cx="338328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99448" y="1874519"/>
            <a:ext cx="2423160" cy="201168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2057400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6CCF9A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441448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880360"/>
            <a:ext cx="2057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A9B8C9"/>
                </a:solidFill>
                <a:latin typeface="Aptos"/>
              </a:rPr>
              <a:t>FastAPI response
React / Streamlit
Reviewable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389120"/>
            <a:ext cx="104241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67D5E8"/>
                </a:solidFill>
                <a:latin typeface="Aptos"/>
              </a:rPr>
              <a:t>Current output: predicted category + maximum class probability (displayed as confidence).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919472"/>
            <a:ext cx="10789920" cy="658368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102352"/>
            <a:ext cx="10332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Important: model probability is not the same as clinical certainty; calibration and external validation are not yet established.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Architecture: modular enough to evolve, simple enough to explain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36192"/>
            <a:ext cx="6583680" cy="6126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618488"/>
            <a:ext cx="2926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React + TypeScript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27632"/>
            <a:ext cx="3246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Patient form • API client • prediction display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157984"/>
            <a:ext cx="0" cy="164592"/>
          </a:xfrm>
          <a:prstGeom prst="line">
            <a:avLst/>
          </a:prstGeom>
          <a:ln w="1905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340864"/>
            <a:ext cx="6583680" cy="612648"/>
          </a:xfrm>
          <a:prstGeom prst="roundRect">
            <a:avLst>
              <a:gd name="adj" fmla="val 12000"/>
            </a:avLst>
          </a:prstGeom>
          <a:solidFill>
            <a:srgbClr val="192F46"/>
          </a:solidFill>
          <a:ln>
            <a:solidFill>
              <a:srgbClr val="19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423160"/>
            <a:ext cx="2926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FastAPI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32304"/>
            <a:ext cx="3246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main.py • request routing • schema 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2962656"/>
            <a:ext cx="0" cy="164592"/>
          </a:xfrm>
          <a:prstGeom prst="line">
            <a:avLst/>
          </a:prstGeom>
          <a:ln w="1905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145536"/>
            <a:ext cx="6583680" cy="6126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227832"/>
            <a:ext cx="2926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Router → Service →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36976"/>
            <a:ext cx="3246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prediction_router.py → prediction_service.py → disease_predictor.py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9080" y="3767328"/>
            <a:ext cx="0" cy="164592"/>
          </a:xfrm>
          <a:prstGeom prst="line">
            <a:avLst/>
          </a:prstGeom>
          <a:ln w="1905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3950208"/>
            <a:ext cx="6583680" cy="612648"/>
          </a:xfrm>
          <a:prstGeom prst="roundRect">
            <a:avLst>
              <a:gd name="adj" fmla="val 12000"/>
            </a:avLst>
          </a:prstGeom>
          <a:solidFill>
            <a:srgbClr val="192F46"/>
          </a:solidFill>
          <a:ln>
            <a:solidFill>
              <a:srgbClr val="19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032504"/>
            <a:ext cx="2926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ML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41648"/>
            <a:ext cx="3246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TF-IDF text features + numeric fields → soft-voting ensemble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4572000"/>
            <a:ext cx="0" cy="164592"/>
          </a:xfrm>
          <a:prstGeom prst="line">
            <a:avLst/>
          </a:prstGeom>
          <a:ln w="1905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4754880"/>
            <a:ext cx="6583680" cy="6126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837176"/>
            <a:ext cx="2926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Artifacts &amp;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46320"/>
            <a:ext cx="3246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Serialized pipeline / label encoder • MLflow experiment artifacts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64592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1645920"/>
            <a:ext cx="64008" cy="114300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1810512"/>
            <a:ext cx="30906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2212848"/>
            <a:ext cx="309067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Clear separation of API, service and model logic.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97180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2971800"/>
            <a:ext cx="64008" cy="114300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3136392"/>
            <a:ext cx="30906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DEPLOYMENT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3538728"/>
            <a:ext cx="309067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Local URLs and working-directory-sensitive paths need configuration.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29768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18120" y="4297680"/>
            <a:ext cx="64008" cy="114300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19288" y="4462272"/>
            <a:ext cx="309067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NEXT EVOLUTION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4864608"/>
            <a:ext cx="3090672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Add tests, auth, observability, model versioning and deployment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05 /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Model strategy: establish a baseline before trusting an ensemble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28816"/>
            <a:ext cx="78638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DISEASE PREDICTION SYSTEM  •  AI +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64008" cy="141732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30723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TEXT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39696"/>
            <a:ext cx="3072384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TF-IDF vectorization of combined symptoms and doctor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572768"/>
            <a:ext cx="64008" cy="141732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0723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NUMERIC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9696"/>
            <a:ext cx="3072384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Clinical measurements are passed through the feature transformer.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572768"/>
            <a:ext cx="64008" cy="141732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737360"/>
            <a:ext cx="30723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ptos"/>
              </a:rP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39696"/>
            <a:ext cx="3072384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Logistic Regression • Random Forest • SVM • XGBoost (soft voting).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01568"/>
            <a:ext cx="3840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What is present in the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22191"/>
            <a:ext cx="4663440" cy="1234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Train/test split and accuracy logging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Serialized model artifacts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MLflow experiment/model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401568"/>
            <a:ext cx="3840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What should be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822191"/>
            <a:ext cx="5120640" cy="1417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Stratified cross-validation and class-wise metrics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Baseline comparisons and error analysis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Probability calibration and reproducible data/model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59552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26C2B2"/>
                </a:solidFill>
                <a:latin typeface="Aptos"/>
              </a:rPr>
              <a:t>Thinker’s question: does the ensemble outperform a simpler model on independent data — and does that improvement change a real decision?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The biggest risk is evidence quality — not model sophistication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3017520" cy="10789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1188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26C2B2"/>
                </a:solidFill>
                <a:latin typeface="Aptos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12848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patient records in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572768"/>
            <a:ext cx="3017520" cy="10789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737360"/>
            <a:ext cx="1188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67D5E8"/>
                </a:solidFill>
                <a:latin typeface="Aptos"/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2212848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doctor-note records in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1572768"/>
            <a:ext cx="4251960" cy="10789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1737360"/>
            <a:ext cx="914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4BE57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12848"/>
            <a:ext cx="3566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target labels found in the training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63240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ptos"/>
              </a:rPr>
              <a:t>Validation questions to resolve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5715000" cy="1737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Are records real, synthetic, curated, or mixed?</a:t>
            </a:r>
          </a:p>
          <a:p>
            <a:pPr>
              <a:spcAft>
                <a:spcPts val="7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Are target labels clinically meaningful and independently verified?</a:t>
            </a:r>
          </a:p>
          <a:p>
            <a:pPr>
              <a:spcAft>
                <a:spcPts val="7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Do notes contain useful clinical information or irrelevant / noisy text?</a:t>
            </a:r>
          </a:p>
          <a:p>
            <a:pPr>
              <a:spcAft>
                <a:spcPts val="7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Are duplicates, leakage, and train/test contamination ruled out?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154680"/>
            <a:ext cx="4297680" cy="1828800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3456432"/>
            <a:ext cx="3383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F8E79"/>
                </a:solidFill>
                <a:latin typeface="Aptos"/>
              </a:rPr>
              <a:t>GATE 0: DATA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858768"/>
            <a:ext cx="361188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No accuracy claim is meaningful until data provenance, label quality and intended population are 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The differentiator: think in systems, evidence and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36192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536192"/>
            <a:ext cx="64008" cy="105156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700784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1 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03120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Who has the problem? What decision is hard? What does success mean?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536192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7648" y="1536192"/>
            <a:ext cx="64008" cy="105156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1700784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2 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103120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Separate symptoms from root causes; test data, process and workflow hypotheses.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8036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880360"/>
            <a:ext cx="64008" cy="105156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044952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3 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447288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Ask whether AI is necessary; compare rules, workflow changes, classic ML and GenAI.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88036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27648" y="2880360"/>
            <a:ext cx="64008" cy="1051560"/>
          </a:xfrm>
          <a:prstGeom prst="rect">
            <a:avLst/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8816" y="3044952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4  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447288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Design a small experiment with pre-defined metrics, baselines and failure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224528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4224528"/>
            <a:ext cx="64008" cy="1051560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4389120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5  GOVERN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791456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Map harm, privacy, human oversight, accountability and monitoring.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224528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27648" y="4224528"/>
            <a:ext cx="64008" cy="105156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28816" y="4389120"/>
            <a:ext cx="47823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6 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791456"/>
            <a:ext cx="4782312" cy="3566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Only scale when the evidence, operating model and business case hold.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71500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67D5E8"/>
                </a:solidFill>
                <a:latin typeface="Aptos"/>
              </a:rPr>
              <a:t>This is how I position myself: not as someone who simply applies a model, but as someone who frames the problem, tests assumptions and connects technical decisions to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Measure what matters: model quality, calibration and workflow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36192"/>
            <a:ext cx="3200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METRIC /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3619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36192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01952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20824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Discrimination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020824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Macro-F1, balanced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93392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Avoid hiding weak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20824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To implement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505456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624328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Class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24328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Precision / recall, confusion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96896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See which labels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2432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To implement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108960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27832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Probability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227832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Calibration curve, Brier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00400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Test whether confidence is meaningful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27832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To implement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712464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831336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Generalization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831336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Stratified CV + external test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03904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Measure performance beyond training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831336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To implement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315968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434840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Operational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434840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Latency, error rate, uptime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07408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Check production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34840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To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919472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038344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ptos"/>
              </a:rPr>
              <a:t>Business / 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038344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Review time, acceptance, escalation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010912"/>
            <a:ext cx="2468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Test whether it improves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038344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Pilot metric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779008"/>
            <a:ext cx="106070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67D5E8"/>
                </a:solidFill>
                <a:latin typeface="Aptos"/>
              </a:rPr>
              <a:t>Set thresholds before running the evaluation. Do not invent or retrofit success criteria after seeing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Responsible healthcare AI is a design requirement, not a slide at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572768"/>
            <a:ext cx="64008" cy="129844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INTENDED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Define who uses the tool, for what decision, in which population and setting.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572768"/>
            <a:ext cx="64008" cy="1298448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73736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HUMAN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3969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Present outputs as decision support; support review, override and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572768"/>
            <a:ext cx="64008" cy="1298448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73736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PRIVACY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13969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Minimize data, restrict access, protect logs and define retention policies.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3127248"/>
            <a:ext cx="64008" cy="1298448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FAILURE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9417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Handle missing inputs, out-of-distribution cases and low-confidence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7408" y="3127248"/>
            <a:ext cx="64008" cy="1298448"/>
          </a:xfrm>
          <a:prstGeom prst="rect">
            <a:avLst/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08576" y="329184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69417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Track drift, data changes, performance and incidents after deployment.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01583" y="3127248"/>
            <a:ext cx="64008" cy="129844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3291840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CLINICAL &amp; REGULATORY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694176"/>
            <a:ext cx="3017520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Assess applicable requirements before any patient-facing deployment.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956048"/>
            <a:ext cx="10652760" cy="585216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129784"/>
            <a:ext cx="102412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Current position: educational / research prototype. Clinical validity and regulatory readiness have not been established.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10642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7FAFC"/>
                </a:solidFill>
                <a:latin typeface="Aptos"/>
              </a:rPr>
              <a:t>A gated roadmap turns a promising prototype into a credible 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44200" y="65105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459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847088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D192C"/>
                </a:solidFill>
                <a:latin typeface="Aptos"/>
              </a:rPr>
              <a:t>0–2 WEEKS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1984248"/>
            <a:ext cx="301752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1691640"/>
            <a:ext cx="2926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DATA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82496"/>
            <a:ext cx="49377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Provenance • label audit • data dictionary • leakage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517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D192C"/>
                </a:solidFill>
                <a:latin typeface="Aptos"/>
              </a:rPr>
              <a:t>2–4 WEEKS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990088"/>
            <a:ext cx="301752" cy="0"/>
          </a:xfrm>
          <a:prstGeom prst="line">
            <a:avLst/>
          </a:prstGeom>
          <a:ln w="25400">
            <a:solidFill>
              <a:srgbClr val="67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2697480"/>
            <a:ext cx="2926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BASELINE &amp;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88336"/>
            <a:ext cx="49377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Stratified validation • baselines • calibration • error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5760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3858768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D192C"/>
                </a:solidFill>
                <a:latin typeface="Aptos"/>
              </a:rPr>
              <a:t>4–6 WEEKS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3995928"/>
            <a:ext cx="301752" cy="0"/>
          </a:xfrm>
          <a:prstGeom prst="line">
            <a:avLst/>
          </a:prstGeom>
          <a:ln w="25400">
            <a:solidFill>
              <a:srgbClr val="F4B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0" y="3703320"/>
            <a:ext cx="2926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ENGINEERING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694176"/>
            <a:ext cx="49377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Tests • config • API security • logging • containerization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6344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864608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D192C"/>
                </a:solidFill>
                <a:latin typeface="Aptos"/>
              </a:rPr>
              <a:t>6–8 WEEKS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5001768"/>
            <a:ext cx="301752" cy="0"/>
          </a:xfrm>
          <a:prstGeom prst="line">
            <a:avLst/>
          </a:prstGeom>
          <a:ln w="25400">
            <a:solidFill>
              <a:srgbClr val="6CC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0" y="4709160"/>
            <a:ext cx="2926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CONTROLLED PILOT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700016"/>
            <a:ext cx="49377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Workflow fit • clinician review • acceptance criteria • governance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5715000"/>
            <a:ext cx="10469880" cy="384048"/>
          </a:xfrm>
          <a:prstGeom prst="roundRect">
            <a:avLst>
              <a:gd name="adj" fmla="val 12000"/>
            </a:avLst>
          </a:prstGeom>
          <a:solidFill>
            <a:srgbClr val="1B394B"/>
          </a:solidFill>
          <a:ln>
            <a:solidFill>
              <a:srgbClr val="1B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797296"/>
            <a:ext cx="10058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A9B8C9"/>
                </a:solidFill>
                <a:latin typeface="Aptos"/>
              </a:rPr>
              <a:t>Timeline is illustrative; actual duration depends on data access, validation requirements and stakeholder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6C2B2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6984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7FAFC"/>
                </a:solidFill>
                <a:latin typeface="Aptos"/>
              </a:rPr>
              <a:t>Let’s validate the problem before scaling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2286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67D5E8"/>
                </a:solidFill>
                <a:latin typeface="Aptos"/>
              </a:rPr>
              <a:t>What I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78608"/>
            <a:ext cx="5577840" cy="2057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A9B8C9"/>
                </a:solidFill>
                <a:latin typeface="Aptos"/>
              </a:defRPr>
            </a:pPr>
            <a:r>
              <a:t>•  Healthcare-aware problem framing and systems thinking</a:t>
            </a:r>
          </a:p>
          <a:p>
            <a:pPr>
              <a:spcAft>
                <a:spcPts val="1100"/>
              </a:spcAft>
              <a:defRPr sz="1500">
                <a:solidFill>
                  <a:srgbClr val="A9B8C9"/>
                </a:solidFill>
                <a:latin typeface="Aptos"/>
              </a:defRPr>
            </a:pPr>
            <a:r>
              <a:t>•  Hands-on ML engineering across data, model, API and user interface</a:t>
            </a:r>
          </a:p>
          <a:p>
            <a:pPr>
              <a:spcAft>
                <a:spcPts val="1100"/>
              </a:spcAft>
              <a:defRPr sz="1500">
                <a:solidFill>
                  <a:srgbClr val="A9B8C9"/>
                </a:solidFill>
                <a:latin typeface="Aptos"/>
              </a:defRPr>
            </a:pPr>
            <a:r>
              <a:t>•  A measurable validation plan with explicit assumptions and risk gates</a:t>
            </a:r>
          </a:p>
          <a:p>
            <a:pPr>
              <a:spcAft>
                <a:spcPts val="1100"/>
              </a:spcAft>
              <a:defRPr sz="1500">
                <a:solidFill>
                  <a:srgbClr val="A9B8C9"/>
                </a:solidFill>
                <a:latin typeface="Aptos"/>
              </a:defRPr>
            </a:pPr>
            <a:r>
              <a:t>•  A responsible path from prototype to controlled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148840"/>
            <a:ext cx="4297680" cy="2331720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solidFill>
              <a:srgbClr val="14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5472" y="2450592"/>
            <a:ext cx="3474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6C2B2"/>
                </a:solidFill>
                <a:latin typeface="Aptos"/>
              </a:rPr>
              <a:t>PROPOSED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472" y="2907792"/>
            <a:ext cx="35204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F7FAFC"/>
                </a:solidFill>
                <a:latin typeface="Aptos"/>
              </a:rPr>
              <a:t>Align on intended use → validate data → agree metrics → run a controlled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40680"/>
            <a:ext cx="43891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Disease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833872"/>
            <a:ext cx="99669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67D5E8"/>
                </a:solidFill>
                <a:latin typeface="Aptos"/>
              </a:rPr>
              <a:t>A proof of concept demonstrating how I think: evidence first, technology second, outcomes always.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108192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26C2B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1311</Words>
  <Application>Microsoft Office PowerPoint</Application>
  <PresentationFormat>Widescreen</PresentationFormat>
  <Paragraphs>188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Prediction System — AI &amp; Healthcare Pitch Deck</dc:title>
  <dc:subject>Client and hiring-manager presentation showcasing AI engineering, healthcare problem-solving and strategic thinking</dc:subject>
  <dc:creator>Subrahmanyam Uppaluru</dc:creator>
  <cp:keywords>Healthcare AI, Machine Learning, Disease Prediction, Responsible AI, MLflow, FastAPI, React</cp:keywords>
  <dc:description>generated using python-pptx</dc:description>
  <cp:lastModifiedBy>subrahmanyam uppaluru</cp:lastModifiedBy>
  <cp:revision>5</cp:revision>
  <dcterms:created xsi:type="dcterms:W3CDTF">2013-01-27T09:14:16Z</dcterms:created>
  <dcterms:modified xsi:type="dcterms:W3CDTF">2026-10-13T09:11:49Z</dcterms:modified>
  <cp:category/>
</cp:coreProperties>
</file>