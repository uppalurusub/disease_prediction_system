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DC715-4843-22AC-E962-C89BC9BFA1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8A47F0-3576-9ACA-3102-86D88E6BE1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2E6522-D38A-C1ED-2E4A-B7B31221FA67}"/>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67E6F02F-7B86-D6EB-8A21-20E70EEB3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F50302-FF8E-5A0F-6471-987DC5244C20}"/>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2592735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6AE6-5163-9B25-403A-8BC6A37D1A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118143-8C9F-5D2B-51FE-29C9B7D00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A66D6B-BA3D-B95B-7219-310823018F23}"/>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98593273-10B0-01B7-3E0C-2B13478120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EB7DAB-795B-5917-08D0-B7EA32AC65DF}"/>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1517461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34D2-65BE-0B53-4296-0029C0013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687054-F4B7-4CB0-46DC-61E2C46061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4355F0-591D-2AA6-0F55-0D881459B5DF}"/>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43A00056-BF9C-98A9-52A9-BA0482F537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9D4A83-C304-5256-3DA2-6D295BDE361D}"/>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3998989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9365-2FA3-2ACE-ACD8-F58395EEFB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2350D0-C73D-D1EF-8460-B542D42E16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F5E5249-5EA3-E3D5-A527-2F8A379A5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D49AF7-F452-C2EE-23CE-8C7CD5C28D6D}"/>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6" name="Footer Placeholder 5">
            <a:extLst>
              <a:ext uri="{FF2B5EF4-FFF2-40B4-BE49-F238E27FC236}">
                <a16:creationId xmlns:a16="http://schemas.microsoft.com/office/drawing/2014/main" id="{4A3200F6-8228-88E9-4731-F38EE972E9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7D7DA4-BDB3-4CA6-B154-66050B6875D2}"/>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233965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8E0C-6AE5-2B54-4F4E-3D2BADD1B4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86283D-8EF8-C93C-4EC1-46CD1B6FBF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DE7B83-82D8-160D-88A7-E497A8BDF7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374A05-4F46-B7EA-7C5F-677B2FD1F2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86185B-9BB6-A082-0479-E2FFC38727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0645B6-8B9C-C9A1-0168-70A0E282FA55}"/>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8" name="Footer Placeholder 7">
            <a:extLst>
              <a:ext uri="{FF2B5EF4-FFF2-40B4-BE49-F238E27FC236}">
                <a16:creationId xmlns:a16="http://schemas.microsoft.com/office/drawing/2014/main" id="{8C0A5EAC-3415-F91C-3BD4-BE6E22B46A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A0068E-A6C2-33BF-07C4-D56CE5CA14DB}"/>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1449771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D9C47-DEEE-C52F-A361-159E016101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B13BD6-12EC-183F-9A85-8E95BC874E4E}"/>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4" name="Footer Placeholder 3">
            <a:extLst>
              <a:ext uri="{FF2B5EF4-FFF2-40B4-BE49-F238E27FC236}">
                <a16:creationId xmlns:a16="http://schemas.microsoft.com/office/drawing/2014/main" id="{FA6E37AC-4D05-DF83-6CDE-ABA9DEFF5C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441A86-ECD3-A287-754A-D5AA9398403F}"/>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170689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8DF124-97FD-605A-A1B2-1CAA480C11E3}"/>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3" name="Footer Placeholder 2">
            <a:extLst>
              <a:ext uri="{FF2B5EF4-FFF2-40B4-BE49-F238E27FC236}">
                <a16:creationId xmlns:a16="http://schemas.microsoft.com/office/drawing/2014/main" id="{1C3EC22B-723F-ACE0-ABAA-089A2EFA62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012F08-F992-3663-49B9-235AC37CCBC1}"/>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3852341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D926-9838-FDFF-D071-867AA54A7B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5AA6B3-B2E4-0A47-FDEE-411735A305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E0BB47-11CF-B7F8-5314-EF89942CB9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605ED5-35D7-21E0-1935-73D5EF6CA25E}"/>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6" name="Footer Placeholder 5">
            <a:extLst>
              <a:ext uri="{FF2B5EF4-FFF2-40B4-BE49-F238E27FC236}">
                <a16:creationId xmlns:a16="http://schemas.microsoft.com/office/drawing/2014/main" id="{0E4EDBE3-D38A-CEA1-DB75-96889DA6C8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B16E40-5DC7-81A8-4CAD-F68F825E7F5B}"/>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2571617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AA13-6FC5-7CFC-FE53-B9F8F4D044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3637FD-2B0D-3FC7-54F8-E40E62C97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18011B-CE1B-59BF-E65D-B2EB3F5A8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6C92F-0EA4-79E2-7583-2AA9C69707E0}"/>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6" name="Footer Placeholder 5">
            <a:extLst>
              <a:ext uri="{FF2B5EF4-FFF2-40B4-BE49-F238E27FC236}">
                <a16:creationId xmlns:a16="http://schemas.microsoft.com/office/drawing/2014/main" id="{3BD525E8-659F-00DC-E48B-86C17481D4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7C2E19-9AB0-5CF7-3CEA-FF2E516B76B8}"/>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214989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31066-8A64-3847-EC47-04ED5582D9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B7953D-AAAC-E56A-1EC1-01C42C23EC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914A17-A7C6-D67B-2682-C9F7FE1DD2A5}"/>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61657A79-736D-C06B-BCA2-9ED8615466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90B80-60A8-DA35-900F-648EA09EBF78}"/>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3580431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AAD408-E6DF-B2EA-7B65-4159A9FFC1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D106CB-4162-5D56-EEEC-0D0E20B269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6F3856-0A98-9350-DA89-882358CD63BF}"/>
              </a:ext>
            </a:extLst>
          </p:cNvPr>
          <p:cNvSpPr>
            <a:spLocks noGrp="1"/>
          </p:cNvSpPr>
          <p:nvPr>
            <p:ph type="dt" sz="half" idx="10"/>
          </p:nvPr>
        </p:nvSpPr>
        <p:spPr/>
        <p:txBody>
          <a:body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BD469CFC-FFA9-5C81-A764-B52D1761E0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9450CE-4109-6221-89D3-916A802309E8}"/>
              </a:ext>
            </a:extLst>
          </p:cNvPr>
          <p:cNvSpPr>
            <a:spLocks noGrp="1"/>
          </p:cNvSpPr>
          <p:nvPr>
            <p:ph type="sldNum" sz="quarter" idx="12"/>
          </p:nvPr>
        </p:nvSpPr>
        <p:spPr/>
        <p:txBody>
          <a:bodyPr/>
          <a:lstStyle/>
          <a:p>
            <a:fld id="{69935279-492E-4D08-9D3C-AEE7855F87A9}" type="slidenum">
              <a:rPr lang="en-IN" smtClean="0"/>
              <a:t>‹#›</a:t>
            </a:fld>
            <a:endParaRPr lang="en-IN"/>
          </a:p>
        </p:txBody>
      </p:sp>
    </p:spTree>
    <p:extLst>
      <p:ext uri="{BB962C8B-B14F-4D97-AF65-F5344CB8AC3E}">
        <p14:creationId xmlns:p14="http://schemas.microsoft.com/office/powerpoint/2010/main" val="1317607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0BFEA-7E5C-1ADC-A201-0042F75FFF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F18CD9-44D2-9072-4759-2E0B691B7C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BB64E-0EF6-ED24-89A4-FEA6177371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FF4918-8ECD-4A84-B348-0422558ED481}" type="datetimeFigureOut">
              <a:rPr lang="en-IN" smtClean="0"/>
              <a:t>13-10-2026</a:t>
            </a:fld>
            <a:endParaRPr lang="en-IN"/>
          </a:p>
        </p:txBody>
      </p:sp>
      <p:sp>
        <p:nvSpPr>
          <p:cNvPr id="5" name="Footer Placeholder 4">
            <a:extLst>
              <a:ext uri="{FF2B5EF4-FFF2-40B4-BE49-F238E27FC236}">
                <a16:creationId xmlns:a16="http://schemas.microsoft.com/office/drawing/2014/main" id="{D6336864-0075-2F76-2D28-0DECC63AEA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9474C5-F940-8590-E4BF-DB0FA1DF0C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935279-492E-4D08-9D3C-AEE7855F87A9}" type="slidenum">
              <a:rPr lang="en-IN" smtClean="0"/>
              <a:t>‹#›</a:t>
            </a:fld>
            <a:endParaRPr lang="en-IN"/>
          </a:p>
        </p:txBody>
      </p:sp>
    </p:spTree>
    <p:extLst>
      <p:ext uri="{BB962C8B-B14F-4D97-AF65-F5344CB8AC3E}">
        <p14:creationId xmlns:p14="http://schemas.microsoft.com/office/powerpoint/2010/main" val="2362289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CC2557-21DE-E720-7043-5803C4B6EC56}"/>
              </a:ext>
            </a:extLst>
          </p:cNvPr>
          <p:cNvSpPr txBox="1"/>
          <p:nvPr/>
        </p:nvSpPr>
        <p:spPr>
          <a:xfrm>
            <a:off x="344128" y="348436"/>
            <a:ext cx="11395587" cy="3375283"/>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Disease Prediction System</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“Hello, and thank you for the opportunity to present this project.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I’m presenting a Disease Prediction System that demonstrates how I approach healthcare AI from both a technical and a strategic perspective.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goal is not simply to show that I can train a machine-learning model. I want to show how I frame a healthcare problem, connect different types of information, build an end-to-end prototype, and—most importantly—identify the evidence and safeguards required before the solution could be trusted in a real healthcare setting.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think about this work in three roles: first, as a thinker who defines the problem; second, as an architect who designs an appropriate solution; and third, as a builder who implements and validates it.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I’ll walk through the problem, the technical design, the limitations, and a practical roadmap toward a controlled pilot.”</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849823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865A2-8928-3C43-5FDD-179E83C76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895EB3-F441-8C46-A1E7-25AB0F938C57}"/>
              </a:ext>
            </a:extLst>
          </p:cNvPr>
          <p:cNvSpPr txBox="1"/>
          <p:nvPr/>
        </p:nvSpPr>
        <p:spPr>
          <a:xfrm>
            <a:off x="481779" y="117875"/>
            <a:ext cx="11611897" cy="451405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The opportunity: trustworthy decision support</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opportunity I am exploring is how structured patient measurements and unstructured clinical text can be brought together into a consistent prediction workflow.</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prototype accepts measurements, symptoms, and doctor notes, processes them through a machine-learning pipeline, and exposes the result through an API and user interfaces.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But I want to make an important distinction: the presence of a prediction is not, by itself, proof of value. For healthcare, the result must be reliable, understandable in context, safe to use, and relevant to a real decision.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That is why I evaluate the project across three dimensions. Technically, can the pipeline work end to end? From a healthcare perspective, are the data and intended use appropriate? From a business perspective, would the output improve a workflow or support a decision?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prototype demonstrates the technical foundation. Data validity, clinical usefulness, and business impact still need to be established.”</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39898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C627-8C7D-06F0-DF87-E285432360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7247D3-1E3F-AA92-EC8F-E6A7D073D741}"/>
              </a:ext>
            </a:extLst>
          </p:cNvPr>
          <p:cNvSpPr txBox="1"/>
          <p:nvPr/>
        </p:nvSpPr>
        <p:spPr>
          <a:xfrm>
            <a:off x="707922" y="128987"/>
            <a:ext cx="10343535" cy="5473293"/>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Start with the problem, not the algorithm</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“Before selecting a model, I start by defining the problem.</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working question here is: how might we combine structured measurements and patient-reported information into a consistent, reviewable signal that supports—but never replaces—clinical judgment?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not assume that healthcare professionals necessarily need another prediction dashboard. I would first interview the intended users and map the current workflow. Where is time being spent? Which decisions are difficult? What information is missing? What happens when documentation is incomplete or contradictory?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then investigate possible root causes. They might include fragmented information, inconsistent documentation, workflow friction, or uncertainty in a particular decision. At this stage, these are hypotheses, not established findings.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define success with the stakeholders before developing further: for example, whether the system improves information review, supports appropriate escalation, or makes a workflow more consistent.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the thinker’s step: ensure we are solving a real, important problem rather than simply applying AI to available data.”</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427687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46B4-A410-F282-05F7-00C385BC9D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4E36D8-5F15-BC55-DBB5-E123F8E2D7C8}"/>
              </a:ext>
            </a:extLst>
          </p:cNvPr>
          <p:cNvSpPr txBox="1"/>
          <p:nvPr/>
        </p:nvSpPr>
        <p:spPr>
          <a:xfrm>
            <a:off x="698090" y="302118"/>
            <a:ext cx="10746658" cy="4867999"/>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Solution concept and workflow</a:t>
            </a: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current workflow has four main stages.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First, the user enters structured measurements, symptoms, and doctor notes.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Second, the backend validates the request and prepares the features.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Third, the machine-learning pipeline combines TF-IDF text features with numerical measurements and passes them to a soft-voting ensemble.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Finally, the API returns a predicted category and a maximum class probability, which the interface displays as confidence.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demonstrates the integration of structured and text-based features in one end-to-end workflow.</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However, the word confidence needs care. A model can return a high probability even when its training data is weak or a new patient differs from the data it has seen. We have not established that these probabilities are calibrated or that the predictions generalize to clinical populations.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So, I would position the current output as an experimental model prediction. A future clinical workflow would require defined intended use, suitable validation, and human review.”</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2890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E8AF-64A9-570B-CD86-24FFE5456F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AEBB6D-C2C3-C4B8-68C9-50BA1690D9A0}"/>
              </a:ext>
            </a:extLst>
          </p:cNvPr>
          <p:cNvSpPr txBox="1"/>
          <p:nvPr/>
        </p:nvSpPr>
        <p:spPr>
          <a:xfrm>
            <a:off x="462117" y="647239"/>
            <a:ext cx="11080954"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Technical architecture</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“From an engineering perspective, I have separated the application into layers.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React and TypeScript interface collects inputs and displays the response. </a:t>
            </a:r>
            <a:r>
              <a:rPr lang="en-US" sz="1800" dirty="0" err="1">
                <a:solidFill>
                  <a:schemeClr val="tx1"/>
                </a:solidFill>
                <a:effectLst/>
                <a:latin typeface="+mn-lt"/>
                <a:ea typeface="MS Mincho" panose="02020609040205080304" pitchFamily="49" charset="-128"/>
                <a:cs typeface="Times New Roman" panose="02020603050405020304" pitchFamily="18" charset="0"/>
              </a:rPr>
              <a:t>FastAPI</a:t>
            </a:r>
            <a:r>
              <a:rPr lang="en-US" sz="1800" dirty="0">
                <a:solidFill>
                  <a:schemeClr val="tx1"/>
                </a:solidFill>
                <a:effectLst/>
                <a:latin typeface="+mn-lt"/>
                <a:ea typeface="MS Mincho" panose="02020609040205080304" pitchFamily="49" charset="-128"/>
                <a:cs typeface="Times New Roman" panose="02020603050405020304" pitchFamily="18" charset="0"/>
              </a:rPr>
              <a:t> provides the API entry point. The router directs the request to the service, and the service invokes the prediction implementation. The implementation loads the saved machine-learning pipeline and label encoder. </a:t>
            </a:r>
            <a:r>
              <a:rPr lang="en-US" sz="1800" dirty="0" err="1">
                <a:solidFill>
                  <a:schemeClr val="tx1"/>
                </a:solidFill>
                <a:effectLst/>
                <a:latin typeface="+mn-lt"/>
                <a:ea typeface="MS Mincho" panose="02020609040205080304" pitchFamily="49" charset="-128"/>
                <a:cs typeface="Times New Roman" panose="02020603050405020304" pitchFamily="18" charset="0"/>
              </a:rPr>
              <a:t>MLflow</a:t>
            </a:r>
            <a:r>
              <a:rPr lang="en-US" sz="1800" dirty="0">
                <a:solidFill>
                  <a:schemeClr val="tx1"/>
                </a:solidFill>
                <a:effectLst/>
                <a:latin typeface="+mn-lt"/>
                <a:ea typeface="MS Mincho" panose="02020609040205080304" pitchFamily="49" charset="-128"/>
                <a:cs typeface="Times New Roman" panose="02020603050405020304" pitchFamily="18" charset="0"/>
              </a:rPr>
              <a:t> artifacts support experiment tracking.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like this separation because it makes the components easier to test, maintain, and evolve. The model logic is not embedded directly in the user interface, and the API provides a boundary between the frontend and inference.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next engineering improvements are also clear. I would make model and API paths environment-driven, improve input validation and exception handling, add automated tests and health checks, and introduce appropriate authentication, authorization, logging, and monitoring before deployment.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the architect’s perspective: build a maintainable foundation, but do not confuse a modular design with production readiness.”</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59664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F1D62-8274-21D1-B5C4-5EA96D04FC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532B2C-A9AA-655A-F360-9606742778B0}"/>
              </a:ext>
            </a:extLst>
          </p:cNvPr>
          <p:cNvSpPr txBox="1"/>
          <p:nvPr/>
        </p:nvSpPr>
        <p:spPr>
          <a:xfrm>
            <a:off x="186813" y="114734"/>
            <a:ext cx="11130116" cy="5196294"/>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Model strategy and evaluation</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current model pipeline combines TF-IDF features from text with numerical patient measurements. The ensemble includes Logistic Regression, Random Forest, Support Vector Machine, and </a:t>
            </a:r>
            <a:r>
              <a:rPr lang="en-US" sz="1800" dirty="0" err="1">
                <a:solidFill>
                  <a:schemeClr val="tx1"/>
                </a:solidFill>
                <a:effectLst/>
                <a:latin typeface="+mn-lt"/>
                <a:ea typeface="MS Mincho" panose="02020609040205080304" pitchFamily="49" charset="-128"/>
                <a:cs typeface="Times New Roman" panose="02020603050405020304" pitchFamily="18" charset="0"/>
              </a:rPr>
              <a:t>XGBoost</a:t>
            </a:r>
            <a:r>
              <a:rPr lang="en-US" sz="1800" dirty="0">
                <a:solidFill>
                  <a:schemeClr val="tx1"/>
                </a:solidFill>
                <a:effectLst/>
                <a:latin typeface="+mn-lt"/>
                <a:ea typeface="MS Mincho" panose="02020609040205080304" pitchFamily="49" charset="-128"/>
                <a:cs typeface="Times New Roman" panose="02020603050405020304" pitchFamily="18" charset="0"/>
              </a:rPr>
              <a:t> using soft voting.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training code includes a train/test split, accuracy evaluation, model serialization, and </a:t>
            </a:r>
            <a:r>
              <a:rPr lang="en-US" sz="1800" dirty="0" err="1">
                <a:solidFill>
                  <a:schemeClr val="tx1"/>
                </a:solidFill>
                <a:effectLst/>
                <a:latin typeface="+mn-lt"/>
                <a:ea typeface="MS Mincho" panose="02020609040205080304" pitchFamily="49" charset="-128"/>
                <a:cs typeface="Times New Roman" panose="02020603050405020304" pitchFamily="18" charset="0"/>
              </a:rPr>
              <a:t>MLflow</a:t>
            </a:r>
            <a:r>
              <a:rPr lang="en-US" sz="1800" dirty="0">
                <a:solidFill>
                  <a:schemeClr val="tx1"/>
                </a:solidFill>
                <a:effectLst/>
                <a:latin typeface="+mn-lt"/>
                <a:ea typeface="MS Mincho" panose="02020609040205080304" pitchFamily="49" charset="-128"/>
                <a:cs typeface="Times New Roman" panose="02020603050405020304" pitchFamily="18" charset="0"/>
              </a:rPr>
              <a:t> logging. These are useful building blocks.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next question is whether the ensemble genuinely performs better than simpler alternatives. I would compare it with a majority-class baseline and individual models, using stratified cross-validation and a locked evaluation set.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report macro-F1, balanced accuracy, class-wise precision and recall, and a confusion matrix—not accuracy alone. I would also evaluate probability calibration, because a displayed probability should not be treated as meaningful confidence until that is tested.</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predefine evaluation criteria before running the experiments and inspect failure cases with appropriate domain experts. I would only retain the more complex model if the evidence justified its added complexity.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That is how I connect model selection to evidence rather than choosing an algorithm because it sounds sophisticated.”</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788975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2FDC3-1B99-B878-22AE-A961FE6D3D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B1D715-DFD7-3023-38E3-9A54440B6EC1}"/>
              </a:ext>
            </a:extLst>
          </p:cNvPr>
          <p:cNvSpPr txBox="1"/>
          <p:nvPr/>
        </p:nvSpPr>
        <p:spPr>
          <a:xfrm>
            <a:off x="324464" y="118161"/>
            <a:ext cx="11425084" cy="5196294"/>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Data reality check</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one of the most important slides in the presentation.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supplied training CSV contains 150 patient records, and the doctor-notes CSV contains 150 records. The target column has six labels. These are dataset counts, not measures of model quality.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 key concern is data provenance and the clinical relevance of the notes. Some text appears generic or potentially irrelevant to clinical care. That raises questions about how the data was created, whether the labels are trustworthy, and whether the text contains meaningful signal or noise.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establish whether the records are synthetic, curated, or real and appropriately governed. I would review the data dictionary, label definitions, duplicates, missingness, feature distributions, and potential leakage. I would also inspect whether the note records correctly match the patient records.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If the data is synthetic or unrepresentative, it can still be useful for testing software integration, but it cannot establish clinical performance.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decision gate is simple: before trusting a model, establish that the data represents the intended problem. If that gate fails, I would fix the data problem before spending time tuning the model.”</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06703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8561B-348C-1B14-EFCE-3A60213FC0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9FB0E6-6E89-4127-6187-65E7CA131F68}"/>
              </a:ext>
            </a:extLst>
          </p:cNvPr>
          <p:cNvSpPr txBox="1"/>
          <p:nvPr/>
        </p:nvSpPr>
        <p:spPr>
          <a:xfrm>
            <a:off x="294968" y="171455"/>
            <a:ext cx="11375922" cy="451405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The differentiator: systems thinking</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slide summarizes the way I work as a problem solver.</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First, I define the decision and the user need. Second, I investigate root causes instead of assuming the first visible symptom is the real problem. Third, I challenge whether AI is necessary. A process change, a rule-based system, or a simpler statistical model may be more appropriate.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Fourth, I design a proof of concept around explicit hypotheses, baselines, and failure analysis. Fifth, I consider privacy, safety, human oversight, accountability, and monitoring from the beginning. Finally, I scale only when the evidence and business case justify it.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For this project, the key question is not just whether the classifier can produce a label. It is whether a validated prediction would improve a defined healthcare workflow enough to justify its cost and risk.</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That combination of critical thinking, architecture, implementation, and value measurement is the perspective I would bring to a client engagement or an AI engineering role.”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822150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EBACA-7FFB-1A84-221A-A2CF28DC05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2806C4-C8B1-C5E2-236D-4BC7DF2E7508}"/>
              </a:ext>
            </a:extLst>
          </p:cNvPr>
          <p:cNvSpPr txBox="1"/>
          <p:nvPr/>
        </p:nvSpPr>
        <p:spPr>
          <a:xfrm>
            <a:off x="167147" y="147371"/>
            <a:ext cx="11002297"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Evaluation plan</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evaluate this solution across three levels.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At the model level, I would measure class-specific performance, macro-F1, balanced accuracy, and confusion patterns. At the probability level, I would assess calibration and whether the displayed confidence is trustworthy. At the system level, I would measure latency, error rates, reliability, and correct handling of invalid or incomplete inputs.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If the system passes those gates, a controlled workflow evaluation could then test whether it helps the intended users. Depending on the use case, possible measures might include review time, appropriate escalation, user acceptance, and the rate of cases requiring manual correction.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agree the metrics and thresholds with stakeholders before evaluation. I would not select thresholds after seeing the results just to make the model look successful.</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There are no clinical performance or ROI results being claimed here. This slide is the evaluation plan required to produce credible evidence.”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62073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1AC-97C1-A1E5-AED2-486FF62C50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886345-4D08-6F7B-9644-2B0C9EEF9590}"/>
              </a:ext>
            </a:extLst>
          </p:cNvPr>
          <p:cNvSpPr txBox="1"/>
          <p:nvPr/>
        </p:nvSpPr>
        <p:spPr>
          <a:xfrm>
            <a:off x="599766" y="147372"/>
            <a:ext cx="10972801"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Responsible healthcare AI</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“Healthcare AI requires responsible design throughout the project, not as an afterthought.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First, define the intended use: who will use the output, for which decision, in what setting, and for which population. Second, keep a qualified human responsible for clinical interpretation. Third, minimize sensitive data, control access, protect logs, and establish retention policies.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system also needs defined behavior for missing inputs, unsupported cases, model failures, and potentially unfamiliar data. After deployment, monitoring should look for changes in data and performance, as well as incidents that require investigation.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applicable regulatory and quality requirements depend on the intended use and jurisdiction, so those must be assessed before any patient-facing deployment.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current position is that this is an educational or research proof of concept. Clinical validity, regulatory readiness, and suitability for autonomous decisions have not been established. Being explicit about those limits is part of responsible AI engineering.”</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503606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36DA6-1AE5-ABBC-91B5-529091E53F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E5F766-EDCA-C422-C6E5-3F304CE34883}"/>
              </a:ext>
            </a:extLst>
          </p:cNvPr>
          <p:cNvSpPr txBox="1"/>
          <p:nvPr/>
        </p:nvSpPr>
        <p:spPr>
          <a:xfrm>
            <a:off x="678425" y="116297"/>
            <a:ext cx="10785987"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Roadmap to a controlled pilot</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propose a gated roadmap rather than moving directly from prototype to production.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first phase focuses on data trust: provenance, label review, data definitions, and leakage checks. The second phase establishes baselines and a rigorous evaluation process, including calibration and error analysis. The third phase hardens the engineering with tests, configuration, security, logging, and containerization. The fourth phase designs a controlled pilot with user involvement, acceptance criteria, clinical review, and governance.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suggested time windows are illustrative. The actual schedule depends on data access, stakeholder availability, and validation requirements.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At every gate, we should be willing to stop or change direction if the evidence is weak. A successful outcome could be a validated model, but it could also be a conclusion that a different approach—or no AI—is the better solution.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That is an important consulting principle: the objective is a better decision and a justified investment, not forcing a predetermined technology into production.”</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28187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E6AD9-B049-7665-9184-3D86C47BB2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12D3A0-5EBB-B79E-1133-E70F69D44E7D}"/>
              </a:ext>
            </a:extLst>
          </p:cNvPr>
          <p:cNvSpPr txBox="1"/>
          <p:nvPr/>
        </p:nvSpPr>
        <p:spPr>
          <a:xfrm>
            <a:off x="678425" y="98209"/>
            <a:ext cx="11012129" cy="451405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Closing: validate </a:t>
            </a:r>
            <a:r>
              <a:rPr lang="en-US" sz="1800" b="1" kern="0">
                <a:solidFill>
                  <a:schemeClr val="tx1"/>
                </a:solidFill>
                <a:effectLst/>
                <a:latin typeface="+mn-lt"/>
                <a:ea typeface="MS Gothic" panose="020B0609070205080204" pitchFamily="49" charset="-128"/>
                <a:cs typeface="Times New Roman" panose="02020603050405020304" pitchFamily="18" charset="0"/>
              </a:rPr>
              <a:t>before scaling</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“To conclude, this project demonstrates an end-to-end foundation for healthcare machine learning: feature preparation, an ensemble classifier, an API, two user-interface options, and experiment artifacts.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But the most important part of my approach is what comes next. I would validate the data, define the intended use, establish the evaluation criteria, compare alternative approaches, and measure whether the solution creates value in a real workflow.</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bring three capabilities: the thinker’s ability to frame the right problem and challenge assumptions; the architect’s ability to design a maintainable solution; and the builder’s ability to implement the workflow and turn the plan into testable software.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proposed next step is to align with the client or clinical stakeholders on one specific use case, verify the data, and agree on measurable success criteria before investing in a pilot.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Thank you. I would welcome your questions and feedback.”</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701149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2221</Words>
  <Application>Microsoft Office PowerPoint</Application>
  <PresentationFormat>Widescreen</PresentationFormat>
  <Paragraphs>88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subrahmanyam uppaluru</dc:creator>
  <cp:lastModifiedBy>subrahmanyam uppaluru</cp:lastModifiedBy>
  <cp:revision>4</cp:revision>
  <dcterms:created xsi:type="dcterms:W3CDTF">2026-10-13T09:17:10Z</dcterms:created>
  <dcterms:modified xsi:type="dcterms:W3CDTF">2026-10-13T09:23:36Z</dcterms:modified>
</cp:coreProperties>
</file>